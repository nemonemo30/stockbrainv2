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03720" y="502920"/>
            <a:ext cx="4480560" cy="5440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de_clean_vector_illustration_scene_on_a_white_ba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55629"/>
            <a:ext cx="4114800" cy="231580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8" y="713232"/>
            <a:ext cx="1325880" cy="256032"/>
          </a:xfrm>
          <a:prstGeom prst="roundRect">
            <a:avLst/>
          </a:prstGeom>
          <a:solidFill>
            <a:srgbClr val="34C7D7"/>
          </a:solidFill>
          <a:ln w="10160">
            <a:solidFill>
              <a:srgbClr val="34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725932"/>
            <a:ext cx="1325880" cy="256032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02136"/>
                </a:solidFill>
                <a:latin typeface="Noto Sans CJK JP"/>
              </a:rPr>
              <a:t>COMPANY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349240" cy="1133856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50" b="1">
                <a:solidFill>
                  <a:srgbClr val="FFFFFF"/>
                </a:solidFill>
                <a:latin typeface="Noto Sans CJK JP"/>
              </a:rPr>
              <a:t>バイブコーディングで学んだ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50" b="1">
                <a:solidFill>
                  <a:srgbClr val="FFFFFF"/>
                </a:solidFill>
                <a:latin typeface="Noto Sans CJK JP"/>
              </a:rPr>
              <a:t>要件定義から保守運用まで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70632"/>
            <a:ext cx="4937760" cy="32004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70" b="0">
                <a:solidFill>
                  <a:srgbClr val="D8E5F3"/>
                </a:solidFill>
                <a:latin typeface="Noto Sans CJK JP"/>
              </a:rPr>
              <a:t>上流で判断軸を作り、下流ではAIに実行・報告を任せる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675887"/>
            <a:ext cx="5074920" cy="987552"/>
          </a:xfrm>
          <a:prstGeom prst="roundRect">
            <a:avLst/>
          </a:prstGeom>
          <a:solidFill>
            <a:srgbClr val="172B45"/>
          </a:solidFill>
          <a:ln w="10160">
            <a:solidFill>
              <a:srgbClr val="2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904487"/>
            <a:ext cx="4626864" cy="38404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人は「上司」として判断軸を持ち、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AIは「実行チーム」として動かす。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9168" y="5971032"/>
            <a:ext cx="1051560" cy="219456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5983732"/>
            <a:ext cx="1051560" cy="219456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2F5F98"/>
                </a:solidFill>
                <a:latin typeface="Noto Sans CJK JP"/>
              </a:rPr>
              <a:t>KEY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5998464"/>
            <a:ext cx="2926080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D8E5F3"/>
                </a:solidFill>
                <a:latin typeface="Noto Sans CJK JP"/>
              </a:rPr>
              <a:t>AIに任せるほど、人は意思決定に集中できる。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BBC8D8"/>
                </a:solidFill>
                <a:latin typeface="Noto Sans CJK JP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人は「上司」、AIは「実行チーム」として使う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90472"/>
            <a:ext cx="3767328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310896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20" b="1">
                <a:solidFill>
                  <a:srgbClr val="102136"/>
                </a:solidFill>
                <a:latin typeface="Noto Sans CJK JP"/>
              </a:rPr>
              <a:t>基本スタンス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3063240" cy="1463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30" b="0">
                <a:solidFill>
                  <a:srgbClr val="243345"/>
                </a:solidFill>
                <a:latin typeface="Noto Sans CJK JP"/>
              </a:rPr>
              <a:t>・人は目的・ロジック・判断基準を握る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30" b="0">
                <a:solidFill>
                  <a:srgbClr val="243345"/>
                </a:solidFill>
                <a:latin typeface="Noto Sans CJK JP"/>
              </a:rPr>
              <a:t>・AIは設計・実装・テスト・報告を担う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30" b="0">
                <a:solidFill>
                  <a:srgbClr val="243345"/>
                </a:solidFill>
                <a:latin typeface="Noto Sans CJK JP"/>
              </a:rPr>
              <a:t>・上流を明確にするほど、下流はAIに任せやすい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886200"/>
            <a:ext cx="3154680" cy="1627632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E6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de_clean_vector_illustration_scene_on_a_white_ba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23" y="3959352"/>
            <a:ext cx="2632072" cy="1481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82896" y="1947672"/>
            <a:ext cx="1069848" cy="438912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2048256"/>
            <a:ext cx="1069848" cy="14630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2896" y="2633472"/>
            <a:ext cx="1069848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2862072"/>
            <a:ext cx="978408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2136"/>
                </a:solidFill>
                <a:latin typeface="Noto Sans CJK JP"/>
              </a:rPr>
              <a:t>要件定義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3182112"/>
            <a:ext cx="923544" cy="402336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77586"/>
                </a:solidFill>
                <a:latin typeface="Noto Sans CJK JP"/>
              </a:rPr>
              <a:t>何を実現したいかを決める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2148840"/>
            <a:ext cx="164592" cy="38100"/>
          </a:xfrm>
          <a:prstGeom prst="rect">
            <a:avLst/>
          </a:prstGeom>
          <a:solidFill>
            <a:srgbClr val="B9C9DC"/>
          </a:solidFill>
          <a:ln w="10160">
            <a:solidFill>
              <a:srgbClr val="B9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44768" y="1947672"/>
            <a:ext cx="1069848" cy="438912"/>
          </a:xfrm>
          <a:prstGeom prst="roundRect">
            <a:avLst/>
          </a:prstGeom>
          <a:solidFill>
            <a:srgbClr val="34C7D7"/>
          </a:solidFill>
          <a:ln w="10160">
            <a:solidFill>
              <a:srgbClr val="34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048256"/>
            <a:ext cx="1069848" cy="14630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633472"/>
            <a:ext cx="1069848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2862072"/>
            <a:ext cx="978408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2136"/>
                </a:solidFill>
                <a:latin typeface="Noto Sans CJK JP"/>
              </a:rPr>
              <a:t>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182112"/>
            <a:ext cx="923544" cy="402336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77586"/>
                </a:solidFill>
                <a:latin typeface="Noto Sans CJK JP"/>
              </a:rPr>
              <a:t>どう実現するかを構造化する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148840"/>
            <a:ext cx="164592" cy="38100"/>
          </a:xfrm>
          <a:prstGeom prst="rect">
            <a:avLst/>
          </a:prstGeom>
          <a:solidFill>
            <a:srgbClr val="B9C9DC"/>
          </a:solidFill>
          <a:ln w="10160">
            <a:solidFill>
              <a:srgbClr val="B9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1947672"/>
            <a:ext cx="1069848" cy="438912"/>
          </a:xfrm>
          <a:prstGeom prst="roundRect">
            <a:avLst/>
          </a:prstGeom>
          <a:solidFill>
            <a:srgbClr val="34B3A6"/>
          </a:solidFill>
          <a:ln w="10160">
            <a:solidFill>
              <a:srgbClr val="34B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048256"/>
            <a:ext cx="1069848" cy="14630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633472"/>
            <a:ext cx="1069848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862072"/>
            <a:ext cx="978408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2136"/>
                </a:solidFill>
                <a:latin typeface="Noto Sans CJK JP"/>
              </a:rPr>
              <a:t>開発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182112"/>
            <a:ext cx="923544" cy="402336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77586"/>
                </a:solidFill>
                <a:latin typeface="Noto Sans CJK JP"/>
              </a:rPr>
              <a:t>実装を進める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148840"/>
            <a:ext cx="164592" cy="38100"/>
          </a:xfrm>
          <a:prstGeom prst="rect">
            <a:avLst/>
          </a:prstGeom>
          <a:solidFill>
            <a:srgbClr val="B9C9DC"/>
          </a:solidFill>
          <a:ln w="10160">
            <a:solidFill>
              <a:srgbClr val="B9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1" y="1947672"/>
            <a:ext cx="1069848" cy="438912"/>
          </a:xfrm>
          <a:prstGeom prst="roundRect">
            <a:avLst/>
          </a:prstGeom>
          <a:solidFill>
            <a:srgbClr val="737EFF"/>
          </a:solidFill>
          <a:ln w="10160">
            <a:solidFill>
              <a:srgbClr val="73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1" y="2048256"/>
            <a:ext cx="1069848" cy="14630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68511" y="2633472"/>
            <a:ext cx="1069848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1" y="2862072"/>
            <a:ext cx="978408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2136"/>
                </a:solidFill>
                <a:latin typeface="Noto Sans CJK JP"/>
              </a:rPr>
              <a:t>テスト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3" y="3182112"/>
            <a:ext cx="923544" cy="402336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77586"/>
                </a:solidFill>
                <a:latin typeface="Noto Sans CJK JP"/>
              </a:rPr>
              <a:t>期待通り動くか確認する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65791" y="2148840"/>
            <a:ext cx="164592" cy="38100"/>
          </a:xfrm>
          <a:prstGeom prst="rect">
            <a:avLst/>
          </a:prstGeom>
          <a:solidFill>
            <a:srgbClr val="B9C9DC"/>
          </a:solidFill>
          <a:ln w="10160">
            <a:solidFill>
              <a:srgbClr val="B9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30384" y="1947672"/>
            <a:ext cx="1069848" cy="438912"/>
          </a:xfrm>
          <a:prstGeom prst="roundRect">
            <a:avLst/>
          </a:prstGeom>
          <a:solidFill>
            <a:srgbClr val="F2A645"/>
          </a:solidFill>
          <a:ln w="10160">
            <a:solidFill>
              <a:srgbClr val="F2A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0384" y="2048256"/>
            <a:ext cx="1069848" cy="14630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30384" y="2633472"/>
            <a:ext cx="1069848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76104" y="2862072"/>
            <a:ext cx="978408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2136"/>
                </a:solidFill>
                <a:latin typeface="Noto Sans CJK JP"/>
              </a:rPr>
              <a:t>保守運用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3536" y="3182112"/>
            <a:ext cx="923544" cy="402336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60" b="0">
                <a:solidFill>
                  <a:srgbClr val="677586"/>
                </a:solidFill>
                <a:latin typeface="Noto Sans CJK JP"/>
              </a:rPr>
              <a:t>状況を見て判断する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82896" y="4910328"/>
            <a:ext cx="6172200" cy="713232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5138928"/>
            <a:ext cx="5742432" cy="20116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80" b="1">
                <a:solidFill>
                  <a:srgbClr val="243345"/>
                </a:solidFill>
                <a:latin typeface="Noto Sans CJK JP"/>
              </a:rPr>
              <a:t>ポイント：AIに任せるのは作業。判断軸と最終意思決定は人が持つ。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402336"/>
            <a:ext cx="1188720" cy="47548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E8EFF7"/>
                </a:solidFill>
                <a:latin typeface="Noto Sans CJK JP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要件定義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頭の中のロジックを、AIと壁打ちして言語化する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307592"/>
            <a:ext cx="1600200" cy="23774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20292"/>
            <a:ext cx="1600200" cy="23774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2F5F98"/>
                </a:solidFill>
                <a:latin typeface="Noto Sans CJK JP"/>
              </a:rPr>
              <a:t>To-Beを先に定める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230368" cy="402336"/>
          </a:xfrm>
          <a:prstGeom prst="roundRect">
            <a:avLst/>
          </a:prstGeom>
          <a:solidFill>
            <a:srgbClr val="102136"/>
          </a:solidFill>
          <a:ln w="10160">
            <a:solidFill>
              <a:srgbClr val="10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人の役割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・誰の・何を解消するか／To-Be像を決める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・業務ロジック・制約を出す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・現行仕様と過去断面を切り分ける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5230368" cy="402336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AIの役割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・抜け漏れを質問する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・要件定義書に落とす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・仕様変更時の文書修正を支援する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504688"/>
            <a:ext cx="10863072" cy="65836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5705856"/>
            <a:ext cx="658368" cy="246888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718556"/>
            <a:ext cx="658368" cy="246888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Noto Sans CJK JP"/>
              </a:rPr>
              <a:t>学び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5687568"/>
            <a:ext cx="932688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30" b="1">
                <a:solidFill>
                  <a:srgbClr val="243345"/>
                </a:solidFill>
                <a:latin typeface="Noto Sans CJK JP"/>
              </a:rPr>
              <a:t>要件定義は「誰の何を解消し、どうなりたいか」を人が定め、AIと壁打ちして言語化する工程。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402336"/>
            <a:ext cx="1188720" cy="47548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E8EFF7"/>
                </a:solidFill>
                <a:latin typeface="Noto Sans CJK JP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要件をどう実現するかをAIと壁打ちしながら構造に落とす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307592"/>
            <a:ext cx="1600200" cy="23774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20292"/>
            <a:ext cx="1600200" cy="23774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2F5F98"/>
                </a:solidFill>
                <a:latin typeface="Noto Sans CJK JP"/>
              </a:rPr>
              <a:t>壁打ちで構造化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43000"/>
            <a:ext cx="2926080" cy="914400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E6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de_clean_vector_flat_soft_gradient_illustration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690" y="1216152"/>
            <a:ext cx="1364778" cy="7680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230368" cy="402336"/>
          </a:xfrm>
          <a:prstGeom prst="roundRect">
            <a:avLst/>
          </a:prstGeom>
          <a:solidFill>
            <a:srgbClr val="102136"/>
          </a:solidFill>
          <a:ln w="10160">
            <a:solidFill>
              <a:srgbClr val="10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人の役割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・要件をどう実現するか、AIと壁打ちして方式を決める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・データの持ち方・処理の流れ・画面構成・例外時の挙動を決める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・論点を整理し、必要な資料の骨子を決める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1828800"/>
            <a:ext cx="5230368" cy="402336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AIの役割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・複数案・論点を出す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・構成要素や例外条件を整理する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・各資料をドキュメント化する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04688"/>
            <a:ext cx="10863072" cy="65836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5705856"/>
            <a:ext cx="658368" cy="246888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718556"/>
            <a:ext cx="658368" cy="246888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Noto Sans CJK JP"/>
              </a:rPr>
              <a:t>学び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5687568"/>
            <a:ext cx="932688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30" b="1">
                <a:solidFill>
                  <a:srgbClr val="243345"/>
                </a:solidFill>
                <a:latin typeface="Noto Sans CJK JP"/>
              </a:rPr>
              <a:t>設計ではAIと壁打ちしながら、実現方式と構造を固め、決めた内容を資料に落とす。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402336"/>
            <a:ext cx="1188720" cy="47548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E8EFF7"/>
                </a:solidFill>
                <a:latin typeface="Noto Sans CJK JP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開発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実装はAIに任せやすいが、境界条件は人が握る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307592"/>
            <a:ext cx="1600200" cy="23774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20292"/>
            <a:ext cx="1600200" cy="23774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2F5F98"/>
                </a:solidFill>
                <a:latin typeface="Noto Sans CJK JP"/>
              </a:rPr>
              <a:t>実装はAIが加速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230368" cy="402336"/>
          </a:xfrm>
          <a:prstGeom prst="roundRect">
            <a:avLst/>
          </a:prstGeom>
          <a:solidFill>
            <a:srgbClr val="102136"/>
          </a:solidFill>
          <a:ln w="10160">
            <a:solidFill>
              <a:srgbClr val="10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人の役割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・置き場・実行環境を固定する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・本番操作の範囲を制限する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・コミット・デプロイ判断を持つ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5230368" cy="402336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AIの役割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・画面・バッチ・関門を実装する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・修正案を出す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・コマンドや差分を提示する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504688"/>
            <a:ext cx="10863072" cy="65836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5705856"/>
            <a:ext cx="658368" cy="246888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718556"/>
            <a:ext cx="658368" cy="246888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Noto Sans CJK JP"/>
              </a:rPr>
              <a:t>学び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5687568"/>
            <a:ext cx="932688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30" b="1">
                <a:solidFill>
                  <a:srgbClr val="243345"/>
                </a:solidFill>
                <a:latin typeface="Noto Sans CJK JP"/>
              </a:rPr>
              <a:t>上流が明確なら、開発工程ではAIに任せられる範囲が大きくなる。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402336"/>
            <a:ext cx="1188720" cy="47548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E8EFF7"/>
                </a:solidFill>
                <a:latin typeface="Noto Sans CJK JP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テスト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AIにテストさせ、人が業務観点で確認する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307592"/>
            <a:ext cx="1600200" cy="23774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20292"/>
            <a:ext cx="1600200" cy="23774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2F5F98"/>
                </a:solidFill>
                <a:latin typeface="Noto Sans CJK JP"/>
              </a:rPr>
              <a:t>自動テスト＋業務確認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230368" cy="402336"/>
          </a:xfrm>
          <a:prstGeom prst="roundRect">
            <a:avLst/>
          </a:prstGeom>
          <a:solidFill>
            <a:srgbClr val="102136"/>
          </a:solidFill>
          <a:ln w="10160">
            <a:solidFill>
              <a:srgbClr val="10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人の役割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・何を確認すべきか決める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・画面・文言・業務挙動を見る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・違和感があれば追加でつつく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5230368" cy="402336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AIの役割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・テストコードを追加する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・実行結果を報告する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・失敗時の原因候補を整理する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504688"/>
            <a:ext cx="10863072" cy="65836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5705856"/>
            <a:ext cx="658368" cy="246888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718556"/>
            <a:ext cx="658368" cy="246888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Noto Sans CJK JP"/>
              </a:rPr>
              <a:t>学び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5687568"/>
            <a:ext cx="932688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30" b="1">
                <a:solidFill>
                  <a:srgbClr val="243345"/>
                </a:solidFill>
                <a:latin typeface="Noto Sans CJK JP"/>
              </a:rPr>
              <a:t>「テストが通った」と「使える画面になった」は別確認として扱う。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402336"/>
            <a:ext cx="1188720" cy="47548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E8EFF7"/>
                </a:solidFill>
                <a:latin typeface="Noto Sans CJK JP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保守運用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AIに運用状況を報告させ、人が対応方針を判断する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307592"/>
            <a:ext cx="1600200" cy="23774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20292"/>
            <a:ext cx="1600200" cy="237744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2F5F98"/>
                </a:solidFill>
                <a:latin typeface="Noto Sans CJK JP"/>
              </a:rPr>
              <a:t>AIが報告、人が判断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43000"/>
            <a:ext cx="2926080" cy="914400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E6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de_clean_vector_illustration_scene_of_a_modern_t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690" y="1216152"/>
            <a:ext cx="1364778" cy="7680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230368" cy="402336"/>
          </a:xfrm>
          <a:prstGeom prst="roundRect">
            <a:avLst/>
          </a:prstGeom>
          <a:solidFill>
            <a:srgbClr val="102136"/>
          </a:solidFill>
          <a:ln w="10160">
            <a:solidFill>
              <a:srgbClr val="10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人の役割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・AIに運用状況を報告させる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・報告内容を見て、問題の有無を判断する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・必要なら追加調査や修正を指示する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28800"/>
            <a:ext cx="52303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1828800"/>
            <a:ext cx="5230368" cy="402336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29384"/>
            <a:ext cx="4919472" cy="14630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AIの役割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42032"/>
            <a:ext cx="4818888" cy="216712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・実行結果・異常を整理する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・影響範囲や原因候補を報告する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243345"/>
                </a:solidFill>
                <a:latin typeface="Noto Sans CJK JP"/>
              </a:rPr>
              <a:t>・必要な対応案を提示する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04688"/>
            <a:ext cx="10863072" cy="65836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5705856"/>
            <a:ext cx="658368" cy="246888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718556"/>
            <a:ext cx="658368" cy="246888"/>
          </a:xfrm>
          <a:prstGeom prst="rect">
            <a:avLst/>
          </a:prstGeom>
          <a:noFill/>
        </p:spPr>
        <p:txBody>
          <a:bodyPr wrap="square" lIns="25400" rIns="2540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Noto Sans CJK JP"/>
              </a:rPr>
              <a:t>学び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5687568"/>
            <a:ext cx="932688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30" b="1">
                <a:solidFill>
                  <a:srgbClr val="243345"/>
                </a:solidFill>
                <a:latin typeface="Noto Sans CJK JP"/>
              </a:rPr>
              <a:t>運用では、AIの報告を受けて人が必要な対応を判断する。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102136"/>
                </a:solidFill>
                <a:latin typeface="Noto Sans CJK JP"/>
              </a:rPr>
              <a:t>保守運用の例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677586"/>
                </a:solidFill>
                <a:latin typeface="Noto Sans CJK JP"/>
              </a:rPr>
              <a:t>三井ハイテックの誤単価採用とリカバリ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0B2"/>
                </a:solidFill>
                <a:latin typeface="Noto Sans CJK JP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365760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82496"/>
            <a:ext cx="3182112" cy="74980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0">
                <a:solidFill>
                  <a:srgbClr val="243345"/>
                </a:solidFill>
                <a:latin typeface="Noto Sans CJK JP"/>
              </a:rPr>
              <a:t>2026/10/07、前年同日の記事内価格 810円 が現在値として採用され、シミュレーション上の売却単価に混入。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0">
                <a:solidFill>
                  <a:srgbClr val="243345"/>
                </a:solidFill>
                <a:latin typeface="Noto Sans CJK JP"/>
              </a:rPr>
              <a:t>実勢 941円 に訂正した。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907792"/>
            <a:ext cx="1353312" cy="777240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999232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677586"/>
                </a:solidFill>
                <a:latin typeface="Noto Sans CJK JP"/>
              </a:rPr>
              <a:t>単価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09544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AA8B9"/>
                </a:solidFill>
                <a:latin typeface="Noto Sans CJK JP"/>
              </a:rPr>
              <a:t>810円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19856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F5F98"/>
                </a:solidFill>
                <a:latin typeface="Noto Sans CJK JP"/>
              </a:rPr>
              <a:t>941円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2907792"/>
            <a:ext cx="1353312" cy="777240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2999232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677586"/>
                </a:solidFill>
                <a:latin typeface="Noto Sans CJK JP"/>
              </a:rPr>
              <a:t>代金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3209544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AA8B9"/>
                </a:solidFill>
                <a:latin typeface="Noto Sans CJK JP"/>
              </a:rPr>
              <a:t>162,000円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3419856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C7D7"/>
                </a:solidFill>
                <a:latin typeface="Noto Sans CJK JP"/>
              </a:rPr>
              <a:t>188,200円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3849624"/>
            <a:ext cx="1353312" cy="777240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41064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677586"/>
                </a:solidFill>
                <a:latin typeface="Noto Sans CJK JP"/>
              </a:rPr>
              <a:t>実現損益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151376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AA8B9"/>
                </a:solidFill>
                <a:latin typeface="Noto Sans CJK JP"/>
              </a:rPr>
              <a:t>-23,400円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61688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66C63"/>
                </a:solidFill>
                <a:latin typeface="Noto Sans CJK JP"/>
              </a:rPr>
              <a:t>+2,800円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0592" y="3849624"/>
            <a:ext cx="1353312" cy="777240"/>
          </a:xfrm>
          <a:prstGeom prst="roundRect">
            <a:avLst/>
          </a:prstGeom>
          <a:solidFill>
            <a:srgbClr val="F4F8FD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3941064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677586"/>
                </a:solidFill>
                <a:latin typeface="Noto Sans CJK JP"/>
              </a:rPr>
              <a:t>現金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4151376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AA8B9"/>
                </a:solidFill>
                <a:latin typeface="Noto Sans CJK JP"/>
              </a:rPr>
              <a:t>239,270円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4361688"/>
            <a:ext cx="1353312" cy="137160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AC877"/>
                </a:solidFill>
                <a:latin typeface="Noto Sans CJK JP"/>
              </a:rPr>
              <a:t>265,470円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73168" y="1572768"/>
            <a:ext cx="2788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73168" y="1572768"/>
            <a:ext cx="2788920" cy="347472"/>
          </a:xfrm>
          <a:prstGeom prst="roundRect">
            <a:avLst/>
          </a:prstGeom>
          <a:solidFill>
            <a:srgbClr val="F66C63"/>
          </a:solidFill>
          <a:ln w="10160">
            <a:solidFill>
              <a:srgbClr val="F66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655064"/>
            <a:ext cx="2788920" cy="10972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JP"/>
              </a:rPr>
              <a:t>発生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2896" y="2139696"/>
            <a:ext cx="2560320" cy="42062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2025年記事の価格を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2026年現在値として採用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572768"/>
            <a:ext cx="2788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79" y="1572768"/>
            <a:ext cx="2788920" cy="347472"/>
          </a:xfrm>
          <a:prstGeom prst="roundRect">
            <a:avLst/>
          </a:prstGeom>
          <a:solidFill>
            <a:srgbClr val="2F5F98"/>
          </a:solidFill>
          <a:ln w="10160">
            <a:solidFill>
              <a:srgbClr val="2F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1655064"/>
            <a:ext cx="2788920" cy="10972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JP"/>
              </a:rPr>
              <a:t>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2139696"/>
            <a:ext cx="2560320" cy="42062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売却は残し、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単価だけ実勢値に訂正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73168" y="3611880"/>
            <a:ext cx="2788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73168" y="3611880"/>
            <a:ext cx="2788920" cy="347472"/>
          </a:xfrm>
          <a:prstGeom prst="roundRect">
            <a:avLst/>
          </a:prstGeom>
          <a:solidFill>
            <a:srgbClr val="34B3A6"/>
          </a:solidFill>
          <a:ln w="10160">
            <a:solidFill>
              <a:srgbClr val="34B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3694176"/>
            <a:ext cx="2788920" cy="10972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JP"/>
              </a:rPr>
              <a:t>対応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4178808"/>
            <a:ext cx="2560320" cy="42062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dry-run後に本実行し、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現金・損益を整合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611880"/>
            <a:ext cx="2788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83879" y="3611880"/>
            <a:ext cx="2788920" cy="347472"/>
          </a:xfrm>
          <a:prstGeom prst="roundRect">
            <a:avLst/>
          </a:prstGeom>
          <a:solidFill>
            <a:srgbClr val="737EFF"/>
          </a:solidFill>
          <a:ln w="10160">
            <a:solidFill>
              <a:srgbClr val="73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3694176"/>
            <a:ext cx="2788920" cy="109728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JP"/>
              </a:rPr>
              <a:t>再発防止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7" y="4178808"/>
            <a:ext cx="2560320" cy="42062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対象日・前年同日除外・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243345"/>
                </a:solidFill>
                <a:latin typeface="Noto Sans CJK JP"/>
              </a:rPr>
              <a:t>一覧記事除外を関門化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980176"/>
            <a:ext cx="10863072" cy="45720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6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6117336"/>
            <a:ext cx="1042416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243345"/>
                </a:solidFill>
                <a:latin typeface="Noto Sans CJK JP"/>
              </a:rPr>
              <a:t>学び：AIに事象・原因・修正方針・リカバリ要否を報告させ、その報告をもとに人が対応方針を決める。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93192"/>
            <a:ext cx="841248" cy="50800"/>
          </a:xfrm>
          <a:prstGeom prst="rect">
            <a:avLst/>
          </a:prstGeom>
          <a:solidFill>
            <a:srgbClr val="34C7D7"/>
          </a:solidFill>
          <a:ln w="10160">
            <a:solidFill>
              <a:srgbClr val="34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5760720" cy="3474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Noto Sans CJK JP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7863840" cy="25603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>
                <a:solidFill>
                  <a:srgbClr val="DEE8F5"/>
                </a:solidFill>
                <a:latin typeface="Noto Sans CJK JP"/>
              </a:rPr>
              <a:t>上流で判断軸を作るほど、下流はAIに任せられる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BBC8D8"/>
                </a:solidFill>
                <a:latin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532120" cy="78638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JP"/>
              </a:rPr>
              <a:t>AIは「作業者」ではなく、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JP"/>
              </a:rPr>
              <a:t>自律的に動く「実行チーム」。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31720"/>
            <a:ext cx="5212080" cy="512064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90" b="0">
                <a:solidFill>
                  <a:srgbClr val="D8E5F3"/>
                </a:solidFill>
                <a:latin typeface="Noto Sans CJK JP"/>
              </a:rPr>
              <a:t>人は判断軸を持ち、AIから報告を受けて意思決定する。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90" b="0">
                <a:solidFill>
                  <a:srgbClr val="D8E5F3"/>
                </a:solidFill>
                <a:latin typeface="Noto Sans CJK JP"/>
              </a:rPr>
              <a:t>この役割分担が、スピードと品質の両立につながる。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163824"/>
            <a:ext cx="2670048" cy="1828800"/>
          </a:xfrm>
          <a:prstGeom prst="roundRect">
            <a:avLst/>
          </a:prstGeom>
          <a:solidFill>
            <a:srgbClr val="172B45"/>
          </a:solidFill>
          <a:ln w="10160">
            <a:solidFill>
              <a:srgbClr val="334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3163824"/>
            <a:ext cx="2670048" cy="356616"/>
          </a:xfrm>
          <a:prstGeom prst="roundRect">
            <a:avLst/>
          </a:prstGeom>
          <a:solidFill>
            <a:srgbClr val="34C7D7"/>
          </a:solidFill>
          <a:ln w="10160">
            <a:solidFill>
              <a:srgbClr val="34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2670048" cy="1188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JP"/>
              </a:rPr>
              <a:t>人が握るもの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2322576" cy="9144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70" b="0">
                <a:solidFill>
                  <a:srgbClr val="FFFFFF"/>
                </a:solidFill>
                <a:latin typeface="Noto Sans CJK JP"/>
              </a:rPr>
              <a:t>・目的・業務ロジック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70" b="0">
                <a:solidFill>
                  <a:srgbClr val="FFFFFF"/>
                </a:solidFill>
                <a:latin typeface="Noto Sans CJK JP"/>
              </a:rPr>
              <a:t>・判断基準・優先順位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70" b="0">
                <a:solidFill>
                  <a:srgbClr val="FFFFFF"/>
                </a:solidFill>
                <a:latin typeface="Noto Sans CJK JP"/>
              </a:rPr>
              <a:t>・本番反映・リカバリ判断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163824"/>
            <a:ext cx="2670048" cy="1828800"/>
          </a:xfrm>
          <a:prstGeom prst="roundRect">
            <a:avLst/>
          </a:prstGeom>
          <a:solidFill>
            <a:srgbClr val="172B45"/>
          </a:solidFill>
          <a:ln w="10160">
            <a:solidFill>
              <a:srgbClr val="334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4760" y="3163824"/>
            <a:ext cx="2670048" cy="356616"/>
          </a:xfrm>
          <a:prstGeom prst="roundRect">
            <a:avLst/>
          </a:prstGeom>
          <a:solidFill>
            <a:srgbClr val="737EFF"/>
          </a:solidFill>
          <a:ln w="10160">
            <a:solidFill>
              <a:srgbClr val="73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255264"/>
            <a:ext cx="2670048" cy="11887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Noto Sans CJK JP"/>
              </a:rPr>
              <a:t>AIに任せるもの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3767328"/>
            <a:ext cx="2322576" cy="9144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70" b="0">
                <a:solidFill>
                  <a:srgbClr val="FFFFFF"/>
                </a:solidFill>
                <a:latin typeface="Noto Sans CJK JP"/>
              </a:rPr>
              <a:t>・言語化・ドキュメント化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70" b="0">
                <a:solidFill>
                  <a:srgbClr val="FFFFFF"/>
                </a:solidFill>
                <a:latin typeface="Noto Sans CJK JP"/>
              </a:rPr>
              <a:t>・設計・実装・テスト作成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70" b="0">
                <a:solidFill>
                  <a:srgbClr val="FFFFFF"/>
                </a:solidFill>
                <a:latin typeface="Noto Sans CJK JP"/>
              </a:rPr>
              <a:t>・調査・差分整理・報告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417320"/>
            <a:ext cx="411480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de_clean_vector_illustration_scene_on_a_white_ba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49994"/>
            <a:ext cx="3749039" cy="210995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9808" y="5705856"/>
            <a:ext cx="10378440" cy="621792"/>
          </a:xfrm>
          <a:prstGeom prst="roundRect">
            <a:avLst/>
          </a:prstGeom>
          <a:solidFill>
            <a:srgbClr val="34C7D7"/>
          </a:solidFill>
          <a:ln w="10160">
            <a:solidFill>
              <a:srgbClr val="34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916168"/>
            <a:ext cx="9875520" cy="164592"/>
          </a:xfrm>
          <a:prstGeom prst="rect">
            <a:avLst/>
          </a:prstGeom>
          <a:noFill/>
        </p:spPr>
        <p:txBody>
          <a:bodyPr wrap="square" lIns="25400" rIns="25400" t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80" b="1">
                <a:solidFill>
                  <a:srgbClr val="102136"/>
                </a:solidFill>
                <a:latin typeface="Noto Sans CJK JP"/>
              </a:rPr>
              <a:t>結論：AIに任せるためには、先に人が「判断軸」を持つ。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